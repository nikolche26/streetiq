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66" r:id="rId4"/>
    <p:sldId id="262" r:id="rId5"/>
    <p:sldId id="263" r:id="rId6"/>
    <p:sldId id="264" r:id="rId7"/>
    <p:sldId id="267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1119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826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12442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8256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9240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98304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59520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4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8140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5952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96621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4240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18647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1718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92095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16832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3264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5C9BE59-9FDA-4218-B1E5-74AAF748D947}" type="datetimeFigureOut">
              <a:rPr lang="bg-BG" smtClean="0"/>
              <a:t>2.5.2026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4ED3D-440B-4BBB-B805-B681C3645AE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21945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611C-9077-6C71-8C79-CD09B39F0D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bg-BG" dirty="0">
                <a:latin typeface="Georgia" panose="02040502050405020303" pitchFamily="18" charset="0"/>
              </a:rPr>
              <a:t>Безопасност на движението по пътищата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9F228-2C4F-DBFD-1611-04B0EA356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678677"/>
            <a:ext cx="9144000" cy="858981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Georgia" panose="02040502050405020303" pitchFamily="18" charset="0"/>
              </a:rPr>
              <a:t>StreetIQ</a:t>
            </a:r>
            <a:r>
              <a:rPr lang="en-US" sz="3200" dirty="0">
                <a:latin typeface="Georgia" panose="02040502050405020303" pitchFamily="18" charset="0"/>
              </a:rPr>
              <a:t> – </a:t>
            </a:r>
            <a:r>
              <a:rPr lang="bg-BG" sz="3200" dirty="0">
                <a:latin typeface="Georgia" panose="02040502050405020303" pitchFamily="18" charset="0"/>
              </a:rPr>
              <a:t>интелигентни на пътя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734FB-BE70-BC81-2795-6A84348A07C5}"/>
              </a:ext>
            </a:extLst>
          </p:cNvPr>
          <p:cNvSpPr txBox="1"/>
          <p:nvPr/>
        </p:nvSpPr>
        <p:spPr>
          <a:xfrm>
            <a:off x="116634" y="4933525"/>
            <a:ext cx="899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3600" dirty="0">
                <a:latin typeface="Georgia" panose="02040502050405020303" pitchFamily="18" charset="0"/>
              </a:rPr>
              <a:t>по учебната програма за 5. клас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24495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E931E-58A9-ED8D-66B8-3E3D544B4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72" y="1608224"/>
            <a:ext cx="10932656" cy="165885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b="1" dirty="0" err="1"/>
              <a:t>Пътната</a:t>
            </a:r>
            <a:r>
              <a:rPr lang="ru-RU" b="1" dirty="0"/>
              <a:t> среда</a:t>
            </a:r>
            <a:r>
              <a:rPr lang="ru-RU" dirty="0"/>
              <a:t> </a:t>
            </a:r>
            <a:r>
              <a:rPr lang="ru-RU" dirty="0" err="1"/>
              <a:t>включва</a:t>
            </a:r>
            <a:r>
              <a:rPr lang="ru-RU" dirty="0"/>
              <a:t>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,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участват</a:t>
            </a:r>
            <a:r>
              <a:rPr lang="ru-RU" dirty="0"/>
              <a:t> в </a:t>
            </a:r>
            <a:r>
              <a:rPr lang="ru-RU" dirty="0" err="1"/>
              <a:t>движението</a:t>
            </a:r>
            <a:r>
              <a:rPr lang="ru-RU" dirty="0"/>
              <a:t> по </a:t>
            </a:r>
            <a:r>
              <a:rPr lang="ru-RU" dirty="0" err="1"/>
              <a:t>пътищата</a:t>
            </a:r>
            <a:r>
              <a:rPr lang="ru-RU" dirty="0"/>
              <a:t>. </a:t>
            </a:r>
            <a:r>
              <a:rPr lang="ru-RU" dirty="0" err="1"/>
              <a:t>Това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пътната</a:t>
            </a:r>
            <a:r>
              <a:rPr lang="ru-RU" dirty="0"/>
              <a:t> настилка, </a:t>
            </a:r>
            <a:r>
              <a:rPr lang="ru-RU" dirty="0" err="1"/>
              <a:t>пътните</a:t>
            </a:r>
            <a:r>
              <a:rPr lang="ru-RU" dirty="0"/>
              <a:t> </a:t>
            </a:r>
            <a:r>
              <a:rPr lang="ru-RU" dirty="0" err="1"/>
              <a:t>знаци</a:t>
            </a:r>
            <a:r>
              <a:rPr lang="ru-RU" dirty="0"/>
              <a:t>, </a:t>
            </a:r>
            <a:r>
              <a:rPr lang="ru-RU" dirty="0" err="1"/>
              <a:t>маркировката</a:t>
            </a:r>
            <a:r>
              <a:rPr lang="ru-RU" dirty="0"/>
              <a:t> и </a:t>
            </a:r>
            <a:r>
              <a:rPr lang="ru-RU" dirty="0" err="1"/>
              <a:t>светофарите</a:t>
            </a:r>
            <a:r>
              <a:rPr lang="ru-RU" dirty="0"/>
              <a:t>. В </a:t>
            </a:r>
            <a:r>
              <a:rPr lang="ru-RU" dirty="0" err="1"/>
              <a:t>нея</a:t>
            </a:r>
            <a:r>
              <a:rPr lang="ru-RU" dirty="0"/>
              <a:t> </a:t>
            </a:r>
            <a:r>
              <a:rPr lang="ru-RU" dirty="0" err="1"/>
              <a:t>влизат</a:t>
            </a:r>
            <a:r>
              <a:rPr lang="ru-RU" dirty="0"/>
              <a:t> </a:t>
            </a:r>
            <a:r>
              <a:rPr lang="ru-RU" dirty="0" err="1"/>
              <a:t>също</a:t>
            </a:r>
            <a:r>
              <a:rPr lang="ru-RU" dirty="0"/>
              <a:t> </a:t>
            </a:r>
            <a:r>
              <a:rPr lang="ru-RU" dirty="0" err="1"/>
              <a:t>превозните</a:t>
            </a:r>
            <a:r>
              <a:rPr lang="ru-RU" dirty="0"/>
              <a:t> средства, </a:t>
            </a:r>
            <a:r>
              <a:rPr lang="ru-RU" dirty="0" err="1"/>
              <a:t>пешеходците</a:t>
            </a:r>
            <a:r>
              <a:rPr lang="ru-RU" dirty="0"/>
              <a:t> и </a:t>
            </a:r>
            <a:r>
              <a:rPr lang="ru-RU" dirty="0" err="1"/>
              <a:t>велосипедистите</a:t>
            </a:r>
            <a:r>
              <a:rPr lang="ru-RU" dirty="0"/>
              <a:t>. </a:t>
            </a:r>
            <a:r>
              <a:rPr lang="ru-RU" dirty="0" err="1"/>
              <a:t>Пътната</a:t>
            </a:r>
            <a:r>
              <a:rPr lang="ru-RU" dirty="0"/>
              <a:t> среда постоянно се </a:t>
            </a:r>
            <a:r>
              <a:rPr lang="ru-RU" dirty="0" err="1"/>
              <a:t>променя</a:t>
            </a:r>
            <a:r>
              <a:rPr lang="ru-RU" dirty="0"/>
              <a:t> и </a:t>
            </a:r>
            <a:r>
              <a:rPr lang="ru-RU" dirty="0" err="1"/>
              <a:t>изисква</a:t>
            </a:r>
            <a:r>
              <a:rPr lang="ru-RU" dirty="0"/>
              <a:t> внимание от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участници</a:t>
            </a:r>
            <a:r>
              <a:rPr lang="ru-RU" dirty="0"/>
              <a:t> в </a:t>
            </a:r>
            <a:r>
              <a:rPr lang="ru-RU" dirty="0" err="1"/>
              <a:t>движението</a:t>
            </a:r>
            <a:r>
              <a:rPr lang="ru-RU" dirty="0"/>
              <a:t>.</a:t>
            </a:r>
            <a:endParaRPr lang="bg-BG" dirty="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3A953-4541-B272-4BD3-32346CC2F84C}"/>
              </a:ext>
            </a:extLst>
          </p:cNvPr>
          <p:cNvSpPr txBox="1"/>
          <p:nvPr/>
        </p:nvSpPr>
        <p:spPr>
          <a:xfrm>
            <a:off x="2321296" y="398927"/>
            <a:ext cx="592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Пътна среда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1026" name="Picture 2" descr="patna bezopasnost detsa">
            <a:extLst>
              <a:ext uri="{FF2B5EF4-FFF2-40B4-BE49-F238E27FC236}">
                <a16:creationId xmlns:a16="http://schemas.microsoft.com/office/drawing/2014/main" id="{218FE631-20C0-7546-FB95-29E3EBEB2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913" y="3299947"/>
            <a:ext cx="5622174" cy="315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84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E931E-58A9-ED8D-66B8-3E3D544B4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7550" y="1169082"/>
            <a:ext cx="8810625" cy="5517468"/>
          </a:xfrm>
        </p:spPr>
        <p:txBody>
          <a:bodyPr>
            <a:noAutofit/>
          </a:bodyPr>
          <a:lstStyle/>
          <a:p>
            <a:r>
              <a:rPr lang="ru-RU" sz="2000" b="1" dirty="0" err="1"/>
              <a:t>Обикновен</a:t>
            </a:r>
            <a:r>
              <a:rPr lang="ru-RU" sz="2000" b="1" dirty="0"/>
              <a:t> </a:t>
            </a:r>
            <a:r>
              <a:rPr lang="ru-RU" sz="2000" b="1" dirty="0" err="1"/>
              <a:t>път</a:t>
            </a:r>
            <a:endParaRPr lang="ru-RU" sz="2000" b="1" dirty="0"/>
          </a:p>
          <a:p>
            <a:pPr marL="0" indent="0">
              <a:buNone/>
            </a:pPr>
            <a:r>
              <a:rPr lang="ru-RU" sz="2000" dirty="0" err="1"/>
              <a:t>Път</a:t>
            </a:r>
            <a:r>
              <a:rPr lang="ru-RU" sz="2000" dirty="0"/>
              <a:t> с </a:t>
            </a:r>
            <a:r>
              <a:rPr lang="ru-RU" sz="2000" dirty="0" err="1"/>
              <a:t>кръстовища</a:t>
            </a:r>
            <a:r>
              <a:rPr lang="ru-RU" sz="2000" dirty="0"/>
              <a:t>, </a:t>
            </a:r>
            <a:r>
              <a:rPr lang="ru-RU" sz="2000" dirty="0" err="1"/>
              <a:t>пешеходци</a:t>
            </a:r>
            <a:r>
              <a:rPr lang="ru-RU" sz="2000" dirty="0"/>
              <a:t> и </a:t>
            </a:r>
            <a:r>
              <a:rPr lang="ru-RU" sz="2000" dirty="0" err="1"/>
              <a:t>достъп</a:t>
            </a:r>
            <a:r>
              <a:rPr lang="ru-RU" sz="2000" dirty="0"/>
              <a:t> до </a:t>
            </a:r>
            <a:r>
              <a:rPr lang="ru-RU" sz="2000" dirty="0" err="1"/>
              <a:t>сгради</a:t>
            </a:r>
            <a:r>
              <a:rPr lang="ru-RU" sz="2000" dirty="0"/>
              <a:t>.</a:t>
            </a:r>
            <a:br>
              <a:rPr lang="ru-RU" sz="2000" dirty="0"/>
            </a:br>
            <a:r>
              <a:rPr lang="ru-RU" sz="2000" dirty="0" err="1"/>
              <a:t>Движението</a:t>
            </a:r>
            <a:r>
              <a:rPr lang="ru-RU" sz="2000" dirty="0"/>
              <a:t> е </a:t>
            </a:r>
            <a:r>
              <a:rPr lang="ru-RU" sz="2000" dirty="0" err="1"/>
              <a:t>смесено</a:t>
            </a:r>
            <a:r>
              <a:rPr lang="ru-RU" sz="2000" dirty="0"/>
              <a:t> и </a:t>
            </a:r>
            <a:r>
              <a:rPr lang="ru-RU" sz="2000" dirty="0" err="1"/>
              <a:t>по-бавно</a:t>
            </a:r>
            <a:r>
              <a:rPr lang="ru-RU" sz="2000" dirty="0"/>
              <a:t>, с </a:t>
            </a:r>
            <a:r>
              <a:rPr lang="ru-RU" sz="2000" dirty="0" err="1"/>
              <a:t>повече</a:t>
            </a:r>
            <a:r>
              <a:rPr lang="ru-RU" sz="2000" dirty="0"/>
              <a:t> ограничения и опасности.</a:t>
            </a:r>
            <a:endParaRPr lang="en-US" sz="2000" dirty="0"/>
          </a:p>
          <a:p>
            <a:r>
              <a:rPr lang="ru-RU" b="1" dirty="0" err="1"/>
              <a:t>Автомобилен</a:t>
            </a:r>
            <a:r>
              <a:rPr lang="ru-RU" b="1" dirty="0"/>
              <a:t> </a:t>
            </a:r>
            <a:r>
              <a:rPr lang="ru-RU" b="1" dirty="0" err="1"/>
              <a:t>път</a:t>
            </a:r>
            <a:endParaRPr lang="ru-RU" b="1" dirty="0"/>
          </a:p>
          <a:p>
            <a:pPr marL="0" indent="0">
              <a:buNone/>
            </a:pPr>
            <a:r>
              <a:rPr lang="ru-RU" dirty="0" err="1"/>
              <a:t>Път</a:t>
            </a:r>
            <a:r>
              <a:rPr lang="ru-RU" dirty="0"/>
              <a:t>, предназначен само за автомобили (без </a:t>
            </a:r>
            <a:r>
              <a:rPr lang="ru-RU" dirty="0" err="1"/>
              <a:t>пешеходци</a:t>
            </a:r>
            <a:r>
              <a:rPr lang="ru-RU" dirty="0"/>
              <a:t> и </a:t>
            </a:r>
            <a:r>
              <a:rPr lang="ru-RU" dirty="0" err="1"/>
              <a:t>бавни</a:t>
            </a:r>
            <a:r>
              <a:rPr lang="ru-RU" dirty="0"/>
              <a:t> </a:t>
            </a:r>
            <a:r>
              <a:rPr lang="ru-RU" dirty="0" err="1"/>
              <a:t>превозни</a:t>
            </a:r>
            <a:r>
              <a:rPr lang="ru-RU" dirty="0"/>
              <a:t> средства).</a:t>
            </a:r>
            <a:br>
              <a:rPr lang="ru-RU" dirty="0"/>
            </a:br>
            <a:r>
              <a:rPr lang="ru-RU" dirty="0" err="1"/>
              <a:t>Има</a:t>
            </a:r>
            <a:r>
              <a:rPr lang="ru-RU" dirty="0"/>
              <a:t> </a:t>
            </a:r>
            <a:r>
              <a:rPr lang="ru-RU" dirty="0" err="1"/>
              <a:t>по-висока</a:t>
            </a:r>
            <a:r>
              <a:rPr lang="ru-RU" dirty="0"/>
              <a:t> </a:t>
            </a:r>
            <a:r>
              <a:rPr lang="ru-RU" dirty="0" err="1"/>
              <a:t>безопасност</a:t>
            </a:r>
            <a:r>
              <a:rPr lang="ru-RU" dirty="0"/>
              <a:t> и </a:t>
            </a:r>
            <a:r>
              <a:rPr lang="ru-RU" dirty="0" err="1"/>
              <a:t>по-малко</a:t>
            </a:r>
            <a:r>
              <a:rPr lang="ru-RU" dirty="0"/>
              <a:t> </a:t>
            </a:r>
            <a:r>
              <a:rPr lang="ru-RU" dirty="0" err="1"/>
              <a:t>пресичания</a:t>
            </a:r>
            <a:r>
              <a:rPr lang="ru-RU" dirty="0"/>
              <a:t>.</a:t>
            </a:r>
            <a:endParaRPr lang="en-US" dirty="0"/>
          </a:p>
          <a:p>
            <a:r>
              <a:rPr lang="ru-RU" b="1" dirty="0" err="1"/>
              <a:t>Скоростен</a:t>
            </a:r>
            <a:r>
              <a:rPr lang="ru-RU" b="1" dirty="0"/>
              <a:t> </a:t>
            </a:r>
            <a:r>
              <a:rPr lang="ru-RU" b="1" dirty="0" err="1"/>
              <a:t>път</a:t>
            </a:r>
            <a:endParaRPr lang="ru-RU" b="1" dirty="0"/>
          </a:p>
          <a:p>
            <a:pPr marL="0" indent="0">
              <a:buNone/>
            </a:pPr>
            <a:r>
              <a:rPr lang="ru-RU" dirty="0" err="1"/>
              <a:t>Път</a:t>
            </a:r>
            <a:r>
              <a:rPr lang="ru-RU" dirty="0"/>
              <a:t> с </a:t>
            </a:r>
            <a:r>
              <a:rPr lang="ru-RU" dirty="0" err="1"/>
              <a:t>разделени</a:t>
            </a:r>
            <a:r>
              <a:rPr lang="ru-RU" dirty="0"/>
              <a:t> платна и ограничен </a:t>
            </a:r>
            <a:r>
              <a:rPr lang="ru-RU" dirty="0" err="1"/>
              <a:t>достъп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Позволява</a:t>
            </a:r>
            <a:r>
              <a:rPr lang="ru-RU" dirty="0"/>
              <a:t> </a:t>
            </a:r>
            <a:r>
              <a:rPr lang="ru-RU" dirty="0" err="1"/>
              <a:t>по-висока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 и </a:t>
            </a:r>
            <a:r>
              <a:rPr lang="ru-RU" dirty="0" err="1"/>
              <a:t>по-бързо</a:t>
            </a:r>
            <a:r>
              <a:rPr lang="ru-RU" dirty="0"/>
              <a:t> движение от </a:t>
            </a:r>
            <a:r>
              <a:rPr lang="ru-RU" dirty="0" err="1"/>
              <a:t>обикновен</a:t>
            </a:r>
            <a:r>
              <a:rPr lang="ru-RU" dirty="0"/>
              <a:t> </a:t>
            </a:r>
            <a:r>
              <a:rPr lang="ru-RU" dirty="0" err="1"/>
              <a:t>път</a:t>
            </a:r>
            <a:r>
              <a:rPr lang="ru-RU" dirty="0"/>
              <a:t>.</a:t>
            </a:r>
            <a:endParaRPr lang="en-US" dirty="0"/>
          </a:p>
          <a:p>
            <a:r>
              <a:rPr lang="ru-RU" b="1" dirty="0" err="1"/>
              <a:t>Автомагистрала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Най-</a:t>
            </a:r>
            <a:r>
              <a:rPr lang="ru-RU" dirty="0" err="1"/>
              <a:t>бързият</a:t>
            </a:r>
            <a:r>
              <a:rPr lang="ru-RU" dirty="0"/>
              <a:t> и безопасен </a:t>
            </a:r>
            <a:r>
              <a:rPr lang="ru-RU" dirty="0" err="1"/>
              <a:t>път</a:t>
            </a:r>
            <a:r>
              <a:rPr lang="ru-RU" dirty="0"/>
              <a:t> с </a:t>
            </a:r>
            <a:r>
              <a:rPr lang="ru-RU" dirty="0" err="1"/>
              <a:t>отделни</a:t>
            </a:r>
            <a:r>
              <a:rPr lang="ru-RU" dirty="0"/>
              <a:t> платна и без </a:t>
            </a:r>
            <a:r>
              <a:rPr lang="ru-RU" dirty="0" err="1"/>
              <a:t>кръстовища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Предназначена е за </a:t>
            </a:r>
            <a:r>
              <a:rPr lang="ru-RU" dirty="0" err="1"/>
              <a:t>висока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 и </a:t>
            </a:r>
            <a:r>
              <a:rPr lang="ru-RU" dirty="0" err="1"/>
              <a:t>дълги</a:t>
            </a:r>
            <a:r>
              <a:rPr lang="ru-RU" dirty="0"/>
              <a:t> </a:t>
            </a:r>
            <a:r>
              <a:rPr lang="ru-RU" dirty="0" err="1"/>
              <a:t>разстояния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3A953-4541-B272-4BD3-32346CC2F84C}"/>
              </a:ext>
            </a:extLst>
          </p:cNvPr>
          <p:cNvSpPr txBox="1"/>
          <p:nvPr/>
        </p:nvSpPr>
        <p:spPr>
          <a:xfrm>
            <a:off x="1978396" y="332252"/>
            <a:ext cx="592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/>
              <a:t>Пътна мрежа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2050" name="Picture 2" descr="Актуална пътна обстановка">
            <a:extLst>
              <a:ext uri="{FF2B5EF4-FFF2-40B4-BE49-F238E27FC236}">
                <a16:creationId xmlns:a16="http://schemas.microsoft.com/office/drawing/2014/main" id="{FE1CEBFD-D1AC-6FA8-F99D-BC5D4222B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90238"/>
            <a:ext cx="2895600" cy="162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A1367B08-2ABD-D588-980D-1DF0D907D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29127"/>
            <a:ext cx="2897674" cy="162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0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54588-ACDA-78B4-4649-E5086F6F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EDDED-887D-696B-8C1A-F4CA67553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413589"/>
            <a:ext cx="11153774" cy="313936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latin typeface="Century Gothic (Body)"/>
              </a:rPr>
              <a:t>Важно е да знаем, че </a:t>
            </a:r>
            <a:r>
              <a:rPr lang="ru-RU" dirty="0" err="1">
                <a:latin typeface="Century Gothic (Body)"/>
              </a:rPr>
              <a:t>Пътните</a:t>
            </a:r>
            <a:r>
              <a:rPr lang="ru-RU" dirty="0">
                <a:latin typeface="Century Gothic (Body)"/>
              </a:rPr>
              <a:t> </a:t>
            </a:r>
            <a:r>
              <a:rPr lang="ru-RU" dirty="0" err="1">
                <a:latin typeface="Century Gothic (Body)"/>
              </a:rPr>
              <a:t>превозни</a:t>
            </a:r>
            <a:r>
              <a:rPr lang="ru-RU" dirty="0">
                <a:latin typeface="Century Gothic (Body)"/>
              </a:rPr>
              <a:t> средства (ППС) се делят на две </a:t>
            </a:r>
            <a:r>
              <a:rPr lang="ru-RU" dirty="0" err="1">
                <a:latin typeface="Century Gothic (Body)"/>
              </a:rPr>
              <a:t>групи</a:t>
            </a:r>
            <a:r>
              <a:rPr lang="ru-RU" dirty="0">
                <a:latin typeface="Century Gothic (Body)"/>
              </a:rPr>
              <a:t>. </a:t>
            </a:r>
            <a:r>
              <a:rPr lang="ru-RU" dirty="0" err="1">
                <a:latin typeface="Century Gothic (Body)"/>
              </a:rPr>
              <a:t>Едните</a:t>
            </a:r>
            <a:r>
              <a:rPr lang="ru-RU" dirty="0">
                <a:latin typeface="Century Gothic (Body)"/>
              </a:rPr>
              <a:t> се </a:t>
            </a:r>
            <a:r>
              <a:rPr lang="ru-RU" dirty="0" err="1">
                <a:latin typeface="Century Gothic (Body)"/>
              </a:rPr>
              <a:t>движат</a:t>
            </a:r>
            <a:r>
              <a:rPr lang="ru-RU" dirty="0">
                <a:latin typeface="Century Gothic (Body)"/>
              </a:rPr>
              <a:t> с </a:t>
            </a:r>
            <a:r>
              <a:rPr lang="ru-RU" b="1" dirty="0" err="1">
                <a:latin typeface="Century Gothic (Body)"/>
              </a:rPr>
              <a:t>мускулна</a:t>
            </a:r>
            <a:r>
              <a:rPr lang="ru-RU" b="1" dirty="0">
                <a:latin typeface="Century Gothic (Body)"/>
              </a:rPr>
              <a:t> сила </a:t>
            </a:r>
            <a:r>
              <a:rPr lang="ru-RU" dirty="0">
                <a:latin typeface="Century Gothic (Body)"/>
              </a:rPr>
              <a:t>(</a:t>
            </a:r>
            <a:r>
              <a:rPr lang="ru-RU" dirty="0" err="1">
                <a:latin typeface="Century Gothic (Body)"/>
              </a:rPr>
              <a:t>като</a:t>
            </a:r>
            <a:r>
              <a:rPr lang="ru-RU" dirty="0">
                <a:latin typeface="Century Gothic (Body)"/>
              </a:rPr>
              <a:t> </a:t>
            </a:r>
            <a:r>
              <a:rPr lang="ru-RU" dirty="0" err="1">
                <a:latin typeface="Century Gothic (Body)"/>
              </a:rPr>
              <a:t>велосипедите</a:t>
            </a:r>
            <a:r>
              <a:rPr lang="ru-RU" dirty="0">
                <a:latin typeface="Century Gothic (Body)"/>
              </a:rPr>
              <a:t>), а </a:t>
            </a:r>
            <a:r>
              <a:rPr lang="ru-RU" dirty="0" err="1">
                <a:latin typeface="Century Gothic (Body)"/>
              </a:rPr>
              <a:t>другите</a:t>
            </a:r>
            <a:r>
              <a:rPr lang="ru-RU" dirty="0">
                <a:latin typeface="Century Gothic (Body)"/>
              </a:rPr>
              <a:t> </a:t>
            </a:r>
            <a:r>
              <a:rPr lang="ru-RU" dirty="0" err="1">
                <a:latin typeface="Century Gothic (Body)"/>
              </a:rPr>
              <a:t>са</a:t>
            </a:r>
            <a:r>
              <a:rPr lang="ru-RU" dirty="0">
                <a:latin typeface="Century Gothic (Body)"/>
              </a:rPr>
              <a:t> МПС – те </a:t>
            </a:r>
            <a:r>
              <a:rPr lang="ru-RU" b="1" dirty="0" err="1">
                <a:latin typeface="Century Gothic (Body)"/>
              </a:rPr>
              <a:t>имат</a:t>
            </a:r>
            <a:r>
              <a:rPr lang="ru-RU" b="1" dirty="0">
                <a:latin typeface="Century Gothic (Body)"/>
              </a:rPr>
              <a:t> </a:t>
            </a:r>
            <a:r>
              <a:rPr lang="ru-RU" b="1" dirty="0" err="1">
                <a:latin typeface="Century Gothic (Body)"/>
              </a:rPr>
              <a:t>двигател</a:t>
            </a:r>
            <a:r>
              <a:rPr lang="ru-RU" dirty="0">
                <a:latin typeface="Century Gothic (Body)"/>
              </a:rPr>
              <a:t>. </a:t>
            </a:r>
          </a:p>
          <a:p>
            <a:pPr marL="0" indent="0" algn="just">
              <a:buNone/>
            </a:pPr>
            <a:r>
              <a:rPr lang="ru-RU" dirty="0" err="1">
                <a:latin typeface="Century Gothic (Body)"/>
              </a:rPr>
              <a:t>Когато</a:t>
            </a:r>
            <a:r>
              <a:rPr lang="ru-RU" dirty="0">
                <a:latin typeface="Century Gothic (Body)"/>
              </a:rPr>
              <a:t> </a:t>
            </a:r>
            <a:r>
              <a:rPr lang="ru-RU" dirty="0" err="1">
                <a:latin typeface="Century Gothic (Body)"/>
              </a:rPr>
              <a:t>сме</a:t>
            </a:r>
            <a:r>
              <a:rPr lang="ru-RU" dirty="0">
                <a:latin typeface="Century Gothic (Body)"/>
              </a:rPr>
              <a:t> на </a:t>
            </a:r>
            <a:r>
              <a:rPr lang="ru-RU" dirty="0" err="1">
                <a:latin typeface="Century Gothic (Body)"/>
              </a:rPr>
              <a:t>пътя</a:t>
            </a:r>
            <a:r>
              <a:rPr lang="ru-RU" dirty="0">
                <a:latin typeface="Century Gothic (Body)"/>
              </a:rPr>
              <a:t>, </a:t>
            </a:r>
            <a:r>
              <a:rPr lang="ru-RU" dirty="0" err="1">
                <a:latin typeface="Century Gothic (Body)"/>
              </a:rPr>
              <a:t>трябва</a:t>
            </a:r>
            <a:r>
              <a:rPr lang="ru-RU" dirty="0">
                <a:latin typeface="Century Gothic (Body)"/>
              </a:rPr>
              <a:t> да помним, че </a:t>
            </a:r>
            <a:r>
              <a:rPr lang="ru-RU" dirty="0" err="1">
                <a:latin typeface="Century Gothic (Body)"/>
              </a:rPr>
              <a:t>различните</a:t>
            </a:r>
            <a:r>
              <a:rPr lang="ru-RU" dirty="0">
                <a:latin typeface="Century Gothic (Body)"/>
              </a:rPr>
              <a:t> МПС </a:t>
            </a:r>
            <a:r>
              <a:rPr lang="ru-RU" dirty="0" err="1">
                <a:latin typeface="Century Gothic (Body)"/>
              </a:rPr>
              <a:t>имат</a:t>
            </a:r>
            <a:r>
              <a:rPr lang="ru-RU" dirty="0">
                <a:latin typeface="Century Gothic (Body)"/>
              </a:rPr>
              <a:t> различен </a:t>
            </a:r>
            <a:r>
              <a:rPr lang="ru-RU" dirty="0" err="1">
                <a:latin typeface="Century Gothic (Body)"/>
              </a:rPr>
              <a:t>спирачен</a:t>
            </a:r>
            <a:r>
              <a:rPr lang="ru-RU" dirty="0">
                <a:latin typeface="Century Gothic (Body)"/>
              </a:rPr>
              <a:t> </a:t>
            </a:r>
            <a:r>
              <a:rPr lang="ru-RU" dirty="0" err="1">
                <a:latin typeface="Century Gothic (Body)"/>
              </a:rPr>
              <a:t>път</a:t>
            </a:r>
            <a:r>
              <a:rPr lang="ru-RU" dirty="0">
                <a:latin typeface="Century Gothic (Body)"/>
              </a:rPr>
              <a:t>. </a:t>
            </a:r>
          </a:p>
          <a:p>
            <a:pPr marL="0" indent="0" algn="just">
              <a:buNone/>
            </a:pPr>
            <a:r>
              <a:rPr lang="ru-RU" dirty="0"/>
              <a:t>Един </a:t>
            </a:r>
            <a:r>
              <a:rPr lang="ru-RU" dirty="0" err="1"/>
              <a:t>тежък</a:t>
            </a:r>
            <a:r>
              <a:rPr lang="ru-RU" dirty="0"/>
              <a:t> ТИР </a:t>
            </a:r>
            <a:r>
              <a:rPr lang="ru-RU" dirty="0" err="1"/>
              <a:t>спира</a:t>
            </a:r>
            <a:r>
              <a:rPr lang="ru-RU" dirty="0"/>
              <a:t> много </a:t>
            </a:r>
            <a:r>
              <a:rPr lang="ru-RU" dirty="0" err="1"/>
              <a:t>по-трудно</a:t>
            </a:r>
            <a:r>
              <a:rPr lang="ru-RU" dirty="0"/>
              <a:t> от лек </a:t>
            </a:r>
            <a:r>
              <a:rPr lang="ru-RU" dirty="0" err="1"/>
              <a:t>автомобил</a:t>
            </a:r>
            <a:r>
              <a:rPr lang="ru-RU" dirty="0"/>
              <a:t>. </a:t>
            </a:r>
            <a:r>
              <a:rPr lang="ru-RU" dirty="0" err="1"/>
              <a:t>Специализираните</a:t>
            </a:r>
            <a:r>
              <a:rPr lang="ru-RU" dirty="0"/>
              <a:t> </a:t>
            </a:r>
            <a:r>
              <a:rPr lang="ru-RU" dirty="0" err="1"/>
              <a:t>превозни</a:t>
            </a:r>
            <a:r>
              <a:rPr lang="ru-RU" dirty="0"/>
              <a:t> средства (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пожарни</a:t>
            </a:r>
            <a:r>
              <a:rPr lang="ru-RU" dirty="0"/>
              <a:t> и линейки) </a:t>
            </a:r>
            <a:r>
              <a:rPr lang="ru-RU" dirty="0" err="1"/>
              <a:t>имат</a:t>
            </a:r>
            <a:r>
              <a:rPr lang="ru-RU" dirty="0"/>
              <a:t> </a:t>
            </a:r>
            <a:r>
              <a:rPr lang="ru-RU" dirty="0" err="1"/>
              <a:t>предимство</a:t>
            </a:r>
            <a:r>
              <a:rPr lang="ru-RU" dirty="0"/>
              <a:t>,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с включена </a:t>
            </a:r>
            <a:r>
              <a:rPr lang="ru-RU" dirty="0" err="1"/>
              <a:t>светлинна</a:t>
            </a:r>
            <a:r>
              <a:rPr lang="ru-RU" dirty="0"/>
              <a:t> и </a:t>
            </a:r>
            <a:r>
              <a:rPr lang="ru-RU" dirty="0" err="1"/>
              <a:t>звукова</a:t>
            </a:r>
            <a:r>
              <a:rPr lang="ru-RU" dirty="0"/>
              <a:t> сигнализация, </a:t>
            </a:r>
            <a:r>
              <a:rPr lang="ru-RU" dirty="0" err="1"/>
              <a:t>защото</a:t>
            </a:r>
            <a:r>
              <a:rPr lang="ru-RU" dirty="0"/>
              <a:t> </a:t>
            </a:r>
            <a:r>
              <a:rPr lang="ru-RU" dirty="0" err="1"/>
              <a:t>бързат</a:t>
            </a:r>
            <a:r>
              <a:rPr lang="ru-RU" dirty="0"/>
              <a:t> да </a:t>
            </a:r>
            <a:r>
              <a:rPr lang="ru-RU" dirty="0" err="1"/>
              <a:t>спасят</a:t>
            </a:r>
            <a:r>
              <a:rPr lang="ru-RU" dirty="0"/>
              <a:t> </a:t>
            </a:r>
            <a:r>
              <a:rPr lang="ru-RU" dirty="0" err="1"/>
              <a:t>човешки</a:t>
            </a:r>
            <a:r>
              <a:rPr lang="ru-RU" dirty="0"/>
              <a:t> живот.</a:t>
            </a:r>
            <a:endParaRPr lang="bg-BG" dirty="0">
              <a:latin typeface="Century Gothic (Body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E7E34-1604-8F6D-D6F8-5FEFDD02C1A0}"/>
              </a:ext>
            </a:extLst>
          </p:cNvPr>
          <p:cNvSpPr txBox="1"/>
          <p:nvPr/>
        </p:nvSpPr>
        <p:spPr>
          <a:xfrm>
            <a:off x="1414835" y="407329"/>
            <a:ext cx="8248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Характеристика на ППС и МПС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3074" name="Picture 2" descr="Велосипеди - Велоцентър">
            <a:extLst>
              <a:ext uri="{FF2B5EF4-FFF2-40B4-BE49-F238E27FC236}">
                <a16:creationId xmlns:a16="http://schemas.microsoft.com/office/drawing/2014/main" id="{BC8BD757-B9C0-55BD-11E7-734BCA847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470759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eugeot България - Ес Еф Ей Аутомотив - официален вносител">
            <a:extLst>
              <a:ext uri="{FF2B5EF4-FFF2-40B4-BE49-F238E27FC236}">
                <a16:creationId xmlns:a16="http://schemas.microsoft.com/office/drawing/2014/main" id="{65FF502B-395A-0FFF-8546-0D0E705866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1" t="29118" r="14869" b="9968"/>
          <a:stretch/>
        </p:blipFill>
        <p:spPr bwMode="auto">
          <a:xfrm>
            <a:off x="3686176" y="4695292"/>
            <a:ext cx="3514724" cy="175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звънредно! Пожарни и линейки хвърчат към &quot;Смирненски&quot;">
            <a:extLst>
              <a:ext uri="{FF2B5EF4-FFF2-40B4-BE49-F238E27FC236}">
                <a16:creationId xmlns:a16="http://schemas.microsoft.com/office/drawing/2014/main" id="{A5E86815-5E67-FE4A-122C-043FF140D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1" y="4410894"/>
            <a:ext cx="3514724" cy="227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30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8884F-9923-652F-3C31-B97C6FE3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D274-F315-25B5-4929-4B38D0961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4" y="890519"/>
            <a:ext cx="11725275" cy="5723293"/>
          </a:xfrm>
        </p:spPr>
        <p:txBody>
          <a:bodyPr>
            <a:noAutofit/>
          </a:bodyPr>
          <a:lstStyle/>
          <a:p>
            <a:r>
              <a:rPr lang="ru-RU" sz="2400" dirty="0">
                <a:latin typeface="Georgia" panose="02040502050405020303" pitchFamily="18" charset="0"/>
              </a:rPr>
              <a:t> </a:t>
            </a:r>
            <a:r>
              <a:rPr lang="ru-RU" sz="2000" b="1" dirty="0" err="1"/>
              <a:t>Предупредителни</a:t>
            </a:r>
            <a:r>
              <a:rPr lang="ru-RU" sz="2000" b="1" dirty="0"/>
              <a:t> </a:t>
            </a:r>
            <a:r>
              <a:rPr lang="ru-RU" sz="2000" b="1" dirty="0" err="1"/>
              <a:t>знаци</a:t>
            </a:r>
            <a:endParaRPr lang="ru-RU" sz="2000" b="1" dirty="0"/>
          </a:p>
          <a:p>
            <a:pPr marL="0" indent="0">
              <a:buNone/>
            </a:pPr>
            <a:r>
              <a:rPr lang="ru-RU" sz="2000" b="1" dirty="0"/>
              <a:t>Вид:</a:t>
            </a:r>
            <a:r>
              <a:rPr lang="ru-RU" sz="2000" dirty="0"/>
              <a:t> </a:t>
            </a:r>
            <a:r>
              <a:rPr lang="ru-RU" sz="2000" dirty="0" err="1"/>
              <a:t>предупреждават</a:t>
            </a:r>
            <a:r>
              <a:rPr lang="ru-RU" sz="2000" dirty="0"/>
              <a:t> за </a:t>
            </a:r>
            <a:r>
              <a:rPr lang="ru-RU" sz="2000" dirty="0" err="1"/>
              <a:t>опасност</a:t>
            </a:r>
            <a:br>
              <a:rPr lang="ru-RU" sz="2000" dirty="0"/>
            </a:br>
            <a:r>
              <a:rPr lang="ru-RU" sz="2000" b="1" dirty="0"/>
              <a:t>Форма:</a:t>
            </a:r>
            <a:r>
              <a:rPr lang="ru-RU" sz="2000" dirty="0"/>
              <a:t> </a:t>
            </a:r>
            <a:r>
              <a:rPr lang="ru-RU" sz="2000" dirty="0" err="1"/>
              <a:t>триъгълни</a:t>
            </a:r>
            <a:br>
              <a:rPr lang="ru-RU" sz="2000" dirty="0"/>
            </a:br>
            <a:r>
              <a:rPr lang="ru-RU" sz="2000" b="1" dirty="0" err="1"/>
              <a:t>Цвят</a:t>
            </a:r>
            <a:r>
              <a:rPr lang="ru-RU" sz="2000" b="1" dirty="0"/>
              <a:t>:</a:t>
            </a:r>
            <a:r>
              <a:rPr lang="ru-RU" sz="2000" dirty="0"/>
              <a:t> </a:t>
            </a:r>
            <a:r>
              <a:rPr lang="ru-RU" sz="2000" dirty="0" err="1"/>
              <a:t>бял</a:t>
            </a:r>
            <a:r>
              <a:rPr lang="ru-RU" sz="2000" dirty="0"/>
              <a:t> фон, </a:t>
            </a:r>
            <a:r>
              <a:rPr lang="ru-RU" sz="2000" dirty="0" err="1"/>
              <a:t>червена</a:t>
            </a:r>
            <a:r>
              <a:rPr lang="ru-RU" sz="2000" dirty="0"/>
              <a:t> рамка</a:t>
            </a:r>
          </a:p>
          <a:p>
            <a:pPr marL="0" indent="0">
              <a:buNone/>
            </a:pPr>
            <a:r>
              <a:rPr lang="ru-RU" sz="2000" dirty="0" err="1"/>
              <a:t>Примери</a:t>
            </a:r>
            <a:r>
              <a:rPr lang="ru-RU" sz="2000" dirty="0"/>
              <a:t>: </a:t>
            </a:r>
            <a:r>
              <a:rPr lang="ru-RU" sz="2000" dirty="0" err="1"/>
              <a:t>деца</a:t>
            </a:r>
            <a:r>
              <a:rPr lang="ru-RU" dirty="0"/>
              <a:t>, </a:t>
            </a:r>
            <a:r>
              <a:rPr lang="ru-RU" sz="2000" dirty="0" err="1"/>
              <a:t>остър</a:t>
            </a:r>
            <a:r>
              <a:rPr lang="ru-RU" sz="2000" dirty="0"/>
              <a:t> завой, </a:t>
            </a:r>
            <a:r>
              <a:rPr lang="ru-RU" sz="2000" dirty="0" err="1"/>
              <a:t>пешеходна</a:t>
            </a:r>
            <a:r>
              <a:rPr lang="ru-RU" sz="2000" dirty="0"/>
              <a:t> </a:t>
            </a:r>
            <a:r>
              <a:rPr lang="ru-RU" sz="2000" dirty="0" err="1"/>
              <a:t>пътека</a:t>
            </a:r>
            <a:r>
              <a:rPr lang="ru-RU" sz="2000" dirty="0"/>
              <a:t>, </a:t>
            </a:r>
            <a:r>
              <a:rPr lang="ru-RU" sz="2000" dirty="0" err="1"/>
              <a:t>хлъзгав</a:t>
            </a:r>
            <a:r>
              <a:rPr lang="ru-RU" sz="2000" dirty="0"/>
              <a:t> </a:t>
            </a:r>
            <a:r>
              <a:rPr lang="ru-RU" sz="2000" dirty="0" err="1"/>
              <a:t>път</a:t>
            </a:r>
            <a:endParaRPr lang="ru-RU" sz="2000" dirty="0"/>
          </a:p>
          <a:p>
            <a:r>
              <a:rPr lang="ru-RU" sz="2000" b="1" dirty="0" err="1"/>
              <a:t>Знаци</a:t>
            </a:r>
            <a:r>
              <a:rPr lang="ru-RU" sz="2000" b="1" dirty="0"/>
              <a:t> за </a:t>
            </a:r>
            <a:r>
              <a:rPr lang="ru-RU" sz="2000" b="1" dirty="0" err="1"/>
              <a:t>предимство</a:t>
            </a:r>
            <a:endParaRPr lang="ru-RU" sz="2000" b="1" dirty="0"/>
          </a:p>
          <a:p>
            <a:pPr marL="0" indent="0">
              <a:buNone/>
            </a:pPr>
            <a:r>
              <a:rPr lang="ru-RU" sz="2000" b="1" dirty="0"/>
              <a:t>Вид:</a:t>
            </a:r>
            <a:r>
              <a:rPr lang="ru-RU" sz="2000" dirty="0"/>
              <a:t> определят кой </a:t>
            </a:r>
            <a:r>
              <a:rPr lang="ru-RU" sz="2000" dirty="0" err="1"/>
              <a:t>има</a:t>
            </a:r>
            <a:r>
              <a:rPr lang="ru-RU" sz="2000" dirty="0"/>
              <a:t> </a:t>
            </a:r>
            <a:r>
              <a:rPr lang="ru-RU" sz="2000" dirty="0" err="1"/>
              <a:t>предимство</a:t>
            </a:r>
            <a:br>
              <a:rPr lang="ru-RU" sz="2000" dirty="0"/>
            </a:br>
            <a:r>
              <a:rPr lang="ru-RU" sz="2000" b="1" dirty="0"/>
              <a:t>Форма:</a:t>
            </a:r>
            <a:r>
              <a:rPr lang="ru-RU" sz="2000" dirty="0"/>
              <a:t> различна (най-</a:t>
            </a:r>
            <a:r>
              <a:rPr lang="ru-RU" sz="2000" dirty="0" err="1"/>
              <a:t>често</a:t>
            </a:r>
            <a:r>
              <a:rPr lang="ru-RU" sz="2000" dirty="0"/>
              <a:t> </a:t>
            </a:r>
            <a:r>
              <a:rPr lang="ru-RU" sz="2000" dirty="0" err="1"/>
              <a:t>обърнат</a:t>
            </a:r>
            <a:r>
              <a:rPr lang="ru-RU" sz="2000" dirty="0"/>
              <a:t> </a:t>
            </a:r>
            <a:r>
              <a:rPr lang="ru-RU" sz="2000" dirty="0" err="1"/>
              <a:t>триъгълник</a:t>
            </a:r>
            <a:r>
              <a:rPr lang="ru-RU" sz="2000" dirty="0"/>
              <a:t> или </a:t>
            </a:r>
            <a:r>
              <a:rPr lang="ru-RU" sz="2000" dirty="0" err="1"/>
              <a:t>осмоъгълник</a:t>
            </a:r>
            <a:r>
              <a:rPr lang="ru-RU" sz="2000" dirty="0"/>
              <a:t>)</a:t>
            </a:r>
            <a:br>
              <a:rPr lang="ru-RU" sz="2000" dirty="0"/>
            </a:br>
            <a:r>
              <a:rPr lang="ru-RU" sz="2000" b="1" dirty="0" err="1"/>
              <a:t>Цвят</a:t>
            </a:r>
            <a:r>
              <a:rPr lang="ru-RU" sz="2000" b="1" dirty="0"/>
              <a:t>:</a:t>
            </a:r>
            <a:r>
              <a:rPr lang="ru-RU" sz="2000" dirty="0"/>
              <a:t> </a:t>
            </a:r>
            <a:r>
              <a:rPr lang="ru-RU" sz="2000" dirty="0" err="1"/>
              <a:t>бял</a:t>
            </a:r>
            <a:r>
              <a:rPr lang="ru-RU" sz="2000" dirty="0"/>
              <a:t>, </a:t>
            </a:r>
            <a:r>
              <a:rPr lang="ru-RU" sz="2000" dirty="0" err="1"/>
              <a:t>червен</a:t>
            </a:r>
            <a:r>
              <a:rPr lang="ru-RU" sz="2000" dirty="0"/>
              <a:t> или </a:t>
            </a:r>
            <a:r>
              <a:rPr lang="ru-RU" sz="2000" dirty="0" err="1"/>
              <a:t>жълт</a:t>
            </a:r>
            <a:endParaRPr lang="ru-RU" sz="2000" dirty="0"/>
          </a:p>
          <a:p>
            <a:pPr marL="0" indent="0">
              <a:buNone/>
            </a:pPr>
            <a:r>
              <a:rPr lang="ru-RU" sz="2000" dirty="0" err="1"/>
              <a:t>Примери</a:t>
            </a:r>
            <a:r>
              <a:rPr lang="ru-RU" sz="2000" dirty="0"/>
              <a:t>: Стоп, </a:t>
            </a:r>
            <a:r>
              <a:rPr lang="ru-RU" sz="2000" dirty="0" err="1"/>
              <a:t>Пропусни</a:t>
            </a:r>
            <a:r>
              <a:rPr lang="ru-RU" sz="2000" dirty="0"/>
              <a:t> </a:t>
            </a:r>
            <a:r>
              <a:rPr lang="ru-RU" sz="2000" dirty="0" err="1"/>
              <a:t>движещите</a:t>
            </a:r>
            <a:r>
              <a:rPr lang="ru-RU" sz="2000" dirty="0"/>
              <a:t> се по </a:t>
            </a:r>
            <a:r>
              <a:rPr lang="ru-RU" sz="2000" dirty="0" err="1"/>
              <a:t>пътя</a:t>
            </a:r>
            <a:endParaRPr lang="ru-RU" sz="2000" dirty="0"/>
          </a:p>
          <a:p>
            <a:r>
              <a:rPr lang="ru-RU" sz="2000" b="1" dirty="0" err="1"/>
              <a:t>Знаци</a:t>
            </a:r>
            <a:r>
              <a:rPr lang="ru-RU" sz="2000" b="1" dirty="0"/>
              <a:t> за забрана</a:t>
            </a:r>
          </a:p>
          <a:p>
            <a:pPr marL="0" indent="0">
              <a:buNone/>
            </a:pPr>
            <a:r>
              <a:rPr lang="ru-RU" sz="2000" dirty="0"/>
              <a:t> </a:t>
            </a:r>
            <a:r>
              <a:rPr lang="ru-RU" sz="2000" b="1" dirty="0"/>
              <a:t>Вид:</a:t>
            </a:r>
            <a:r>
              <a:rPr lang="ru-RU" sz="2000" dirty="0"/>
              <a:t> </a:t>
            </a:r>
            <a:r>
              <a:rPr lang="ru-RU" sz="2000" dirty="0" err="1"/>
              <a:t>забраняват</a:t>
            </a:r>
            <a:r>
              <a:rPr lang="ru-RU" sz="2000" dirty="0"/>
              <a:t> действие</a:t>
            </a:r>
            <a:br>
              <a:rPr lang="ru-RU" sz="2000" dirty="0"/>
            </a:br>
            <a:r>
              <a:rPr lang="ru-RU" sz="2000" b="1" dirty="0"/>
              <a:t>Форма:</a:t>
            </a:r>
            <a:r>
              <a:rPr lang="ru-RU" sz="2000" dirty="0"/>
              <a:t> </a:t>
            </a:r>
            <a:r>
              <a:rPr lang="ru-RU" sz="2000" dirty="0" err="1"/>
              <a:t>кръгли</a:t>
            </a:r>
            <a:br>
              <a:rPr lang="ru-RU" sz="2000" dirty="0"/>
            </a:br>
            <a:r>
              <a:rPr lang="ru-RU" sz="2000" b="1" dirty="0" err="1"/>
              <a:t>Цвят</a:t>
            </a:r>
            <a:r>
              <a:rPr lang="ru-RU" sz="2000" b="1" dirty="0"/>
              <a:t>:</a:t>
            </a:r>
            <a:r>
              <a:rPr lang="ru-RU" sz="2000" dirty="0"/>
              <a:t> </a:t>
            </a:r>
            <a:r>
              <a:rPr lang="ru-RU" sz="2000" dirty="0" err="1"/>
              <a:t>бял</a:t>
            </a:r>
            <a:r>
              <a:rPr lang="ru-RU" sz="2000" dirty="0"/>
              <a:t> фон, </a:t>
            </a:r>
            <a:r>
              <a:rPr lang="ru-RU" sz="2000" dirty="0" err="1"/>
              <a:t>червена</a:t>
            </a:r>
            <a:r>
              <a:rPr lang="ru-RU" sz="2000" dirty="0"/>
              <a:t> рамка</a:t>
            </a:r>
          </a:p>
          <a:p>
            <a:pPr marL="0" indent="0">
              <a:buNone/>
            </a:pPr>
            <a:r>
              <a:rPr lang="ru-RU" sz="2000" dirty="0" err="1"/>
              <a:t>Примери</a:t>
            </a:r>
            <a:r>
              <a:rPr lang="ru-RU" sz="2000" dirty="0"/>
              <a:t>: забранено </a:t>
            </a:r>
            <a:r>
              <a:rPr lang="ru-RU" sz="2000" dirty="0" err="1"/>
              <a:t>влизане</a:t>
            </a:r>
            <a:r>
              <a:rPr lang="ru-RU" sz="2000" dirty="0"/>
              <a:t>, забранено </a:t>
            </a:r>
            <a:r>
              <a:rPr lang="ru-RU" sz="2000" dirty="0" err="1"/>
              <a:t>изпреварване</a:t>
            </a:r>
            <a:r>
              <a:rPr lang="ru-RU" sz="2000" dirty="0"/>
              <a:t>, ограничение на </a:t>
            </a:r>
            <a:r>
              <a:rPr lang="ru-RU" sz="2000" dirty="0" err="1"/>
              <a:t>скоростта</a:t>
            </a:r>
            <a:endParaRPr lang="ru-RU" sz="2000" dirty="0"/>
          </a:p>
          <a:p>
            <a:pPr marL="0" indent="0" algn="just">
              <a:buNone/>
            </a:pPr>
            <a:endParaRPr lang="bg-BG" sz="2400" dirty="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49EFD-FA1E-4504-E340-3E693768517A}"/>
              </a:ext>
            </a:extLst>
          </p:cNvPr>
          <p:cNvSpPr txBox="1"/>
          <p:nvPr/>
        </p:nvSpPr>
        <p:spPr>
          <a:xfrm>
            <a:off x="-190500" y="200655"/>
            <a:ext cx="10858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500" dirty="0">
                <a:latin typeface="+mj-lt"/>
                <a:ea typeface="+mj-ea"/>
                <a:cs typeface="+mj-cs"/>
              </a:rPr>
              <a:t>Сигнализиране на движението с </a:t>
            </a:r>
            <a:r>
              <a:rPr lang="ru-RU" sz="3500" dirty="0" err="1">
                <a:latin typeface="+mj-lt"/>
                <a:ea typeface="+mj-ea"/>
                <a:cs typeface="+mj-cs"/>
              </a:rPr>
              <a:t>пътни</a:t>
            </a:r>
            <a:r>
              <a:rPr lang="ru-RU" sz="3500" dirty="0">
                <a:latin typeface="+mj-lt"/>
                <a:ea typeface="+mj-ea"/>
                <a:cs typeface="+mj-cs"/>
              </a:rPr>
              <a:t> </a:t>
            </a:r>
            <a:r>
              <a:rPr lang="ru-RU" sz="3500" dirty="0" err="1">
                <a:latin typeface="+mj-lt"/>
                <a:ea typeface="+mj-ea"/>
                <a:cs typeface="+mj-cs"/>
              </a:rPr>
              <a:t>знаци</a:t>
            </a:r>
            <a:endParaRPr lang="en-US" sz="3500" dirty="0"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 descr="Пътен знак А-19 Внимание деца - Пътна сигнализация, Пътни знаци  Производство, Доставка и Монтаж">
            <a:extLst>
              <a:ext uri="{FF2B5EF4-FFF2-40B4-BE49-F238E27FC236}">
                <a16:creationId xmlns:a16="http://schemas.microsoft.com/office/drawing/2014/main" id="{5AEFEC0D-9188-2D61-998F-72EF6FC8C9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3" t="12749" r="7434" b="13469"/>
          <a:stretch/>
        </p:blipFill>
        <p:spPr bwMode="auto">
          <a:xfrm>
            <a:off x="7012746" y="846986"/>
            <a:ext cx="1688714" cy="1460241"/>
          </a:xfrm>
          <a:prstGeom prst="triangl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Пътен знак B2 - Стоп, със стойка | Office 1">
            <a:extLst>
              <a:ext uri="{FF2B5EF4-FFF2-40B4-BE49-F238E27FC236}">
                <a16:creationId xmlns:a16="http://schemas.microsoft.com/office/drawing/2014/main" id="{48AF2403-1F3E-2D22-0F25-EE24DFFF6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5" t="22891" r="22772" b="23025"/>
          <a:stretch/>
        </p:blipFill>
        <p:spPr bwMode="auto">
          <a:xfrm>
            <a:off x="9629984" y="3137216"/>
            <a:ext cx="1583687" cy="1556381"/>
          </a:xfrm>
          <a:prstGeom prst="octag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Пътен знак В 1-Забранено е влизането - Пътна сигнализация, Пътни знаци  Производство, Доставка и Монтаж">
            <a:extLst>
              <a:ext uri="{FF2B5EF4-FFF2-40B4-BE49-F238E27FC236}">
                <a16:creationId xmlns:a16="http://schemas.microsoft.com/office/drawing/2014/main" id="{F49AC214-B52E-FC24-521A-44966949C2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" t="5159" r="4807" b="5018"/>
          <a:stretch/>
        </p:blipFill>
        <p:spPr bwMode="auto">
          <a:xfrm>
            <a:off x="7206035" y="4550774"/>
            <a:ext cx="1605890" cy="16058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88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93991-A557-73CB-2BBD-6DEB7F8A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247E-4C16-391A-DC2E-E003E9394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72" y="1371311"/>
            <a:ext cx="5925310" cy="54869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/>
              <a:t>Конфликт</a:t>
            </a:r>
            <a:r>
              <a:rPr lang="ru-RU" dirty="0"/>
              <a:t> </a:t>
            </a:r>
            <a:r>
              <a:rPr lang="ru-RU" dirty="0" err="1"/>
              <a:t>възниква</a:t>
            </a:r>
            <a:r>
              <a:rPr lang="ru-RU" dirty="0"/>
              <a:t> </a:t>
            </a:r>
            <a:r>
              <a:rPr lang="ru-RU" dirty="0" err="1"/>
              <a:t>тогава</a:t>
            </a:r>
            <a:r>
              <a:rPr lang="ru-RU" dirty="0"/>
              <a:t>,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интересите</a:t>
            </a:r>
            <a:r>
              <a:rPr lang="ru-RU" dirty="0"/>
              <a:t> на </a:t>
            </a:r>
            <a:r>
              <a:rPr lang="ru-RU" dirty="0" err="1"/>
              <a:t>двама</a:t>
            </a:r>
            <a:r>
              <a:rPr lang="ru-RU" dirty="0"/>
              <a:t> души на </a:t>
            </a:r>
            <a:r>
              <a:rPr lang="ru-RU" dirty="0" err="1"/>
              <a:t>пътя</a:t>
            </a:r>
            <a:r>
              <a:rPr lang="ru-RU" dirty="0"/>
              <a:t> се </a:t>
            </a:r>
            <a:r>
              <a:rPr lang="ru-RU" dirty="0" err="1"/>
              <a:t>застъпят</a:t>
            </a:r>
            <a:r>
              <a:rPr lang="ru-RU" dirty="0"/>
              <a:t> – например и </a:t>
            </a:r>
            <a:r>
              <a:rPr lang="ru-RU" dirty="0" err="1"/>
              <a:t>двамата</a:t>
            </a:r>
            <a:r>
              <a:rPr lang="ru-RU" dirty="0"/>
              <a:t> </a:t>
            </a:r>
            <a:r>
              <a:rPr lang="ru-RU" dirty="0" err="1"/>
              <a:t>искат</a:t>
            </a:r>
            <a:r>
              <a:rPr lang="ru-RU" dirty="0"/>
              <a:t> да </a:t>
            </a:r>
            <a:r>
              <a:rPr lang="ru-RU" dirty="0" err="1"/>
              <a:t>преминат</a:t>
            </a:r>
            <a:r>
              <a:rPr lang="ru-RU" dirty="0"/>
              <a:t> </a:t>
            </a:r>
            <a:r>
              <a:rPr lang="ru-RU" dirty="0" err="1"/>
              <a:t>едновременно</a:t>
            </a:r>
            <a:r>
              <a:rPr lang="ru-RU" dirty="0"/>
              <a:t> </a:t>
            </a:r>
            <a:r>
              <a:rPr lang="ru-RU" dirty="0" err="1"/>
              <a:t>през</a:t>
            </a:r>
            <a:r>
              <a:rPr lang="ru-RU" dirty="0"/>
              <a:t> </a:t>
            </a:r>
            <a:r>
              <a:rPr lang="ru-RU" dirty="0" err="1"/>
              <a:t>тясно</a:t>
            </a:r>
            <a:r>
              <a:rPr lang="ru-RU" dirty="0"/>
              <a:t> </a:t>
            </a:r>
            <a:r>
              <a:rPr lang="ru-RU" dirty="0" err="1"/>
              <a:t>място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 err="1"/>
              <a:t>Ако</a:t>
            </a:r>
            <a:r>
              <a:rPr lang="ru-RU" dirty="0"/>
              <a:t> </a:t>
            </a:r>
            <a:r>
              <a:rPr lang="ru-RU" dirty="0" err="1"/>
              <a:t>този</a:t>
            </a:r>
            <a:r>
              <a:rPr lang="ru-RU" dirty="0"/>
              <a:t> конфликт не се реши чрез </a:t>
            </a:r>
            <a:r>
              <a:rPr lang="ru-RU" dirty="0" err="1"/>
              <a:t>правилата</a:t>
            </a:r>
            <a:r>
              <a:rPr lang="ru-RU" dirty="0"/>
              <a:t>, се </a:t>
            </a:r>
            <a:r>
              <a:rPr lang="ru-RU" dirty="0" err="1"/>
              <a:t>стига</a:t>
            </a:r>
            <a:r>
              <a:rPr lang="ru-RU" dirty="0"/>
              <a:t> до </a:t>
            </a:r>
            <a:r>
              <a:rPr lang="ru-RU" b="1" dirty="0"/>
              <a:t>инцидент</a:t>
            </a:r>
            <a:r>
              <a:rPr lang="ru-RU" dirty="0"/>
              <a:t> или </a:t>
            </a:r>
            <a:r>
              <a:rPr lang="ru-RU" b="1" dirty="0"/>
              <a:t>катастрофа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Най-</a:t>
            </a:r>
            <a:r>
              <a:rPr lang="ru-RU" dirty="0" err="1"/>
              <a:t>често</a:t>
            </a:r>
            <a:r>
              <a:rPr lang="ru-RU" dirty="0"/>
              <a:t> причините </a:t>
            </a:r>
            <a:r>
              <a:rPr lang="ru-RU" dirty="0" err="1"/>
              <a:t>са</a:t>
            </a:r>
            <a:r>
              <a:rPr lang="ru-RU" dirty="0"/>
              <a:t>:</a:t>
            </a:r>
          </a:p>
          <a:p>
            <a:r>
              <a:rPr lang="ru-RU" b="1" dirty="0"/>
              <a:t>грешна </a:t>
            </a:r>
            <a:r>
              <a:rPr lang="ru-RU" b="1" dirty="0" err="1"/>
              <a:t>преценка</a:t>
            </a:r>
            <a:r>
              <a:rPr lang="ru-RU" b="1" dirty="0"/>
              <a:t>;</a:t>
            </a:r>
          </a:p>
          <a:p>
            <a:r>
              <a:rPr lang="ru-RU" b="1" dirty="0" err="1"/>
              <a:t>бързане</a:t>
            </a:r>
            <a:r>
              <a:rPr lang="ru-RU" b="1" dirty="0"/>
              <a:t>;</a:t>
            </a:r>
          </a:p>
          <a:p>
            <a:r>
              <a:rPr lang="ru-RU" b="1" dirty="0" err="1"/>
              <a:t>агресивно</a:t>
            </a:r>
            <a:r>
              <a:rPr lang="ru-RU" b="1" dirty="0"/>
              <a:t> поведение. </a:t>
            </a:r>
          </a:p>
          <a:p>
            <a:pPr marL="0" indent="0">
              <a:buNone/>
            </a:pPr>
            <a:r>
              <a:rPr lang="ru-RU" dirty="0"/>
              <a:t>За да избегнем конфликт, </a:t>
            </a:r>
            <a:r>
              <a:rPr lang="ru-RU" dirty="0" err="1"/>
              <a:t>трябва</a:t>
            </a:r>
            <a:r>
              <a:rPr lang="ru-RU" dirty="0"/>
              <a:t> да </a:t>
            </a:r>
            <a:r>
              <a:rPr lang="ru-RU" dirty="0" err="1"/>
              <a:t>сме</a:t>
            </a:r>
            <a:r>
              <a:rPr lang="ru-RU" dirty="0"/>
              <a:t> </a:t>
            </a:r>
            <a:r>
              <a:rPr lang="ru-RU" b="1" dirty="0" err="1"/>
              <a:t>толерантни</a:t>
            </a:r>
            <a:r>
              <a:rPr lang="ru-RU" dirty="0"/>
              <a:t> и </a:t>
            </a:r>
            <a:r>
              <a:rPr lang="ru-RU" b="1" dirty="0"/>
              <a:t>да </a:t>
            </a:r>
            <a:r>
              <a:rPr lang="ru-RU" b="1" dirty="0" err="1"/>
              <a:t>спазваме</a:t>
            </a:r>
            <a:r>
              <a:rPr lang="ru-RU" b="1" dirty="0"/>
              <a:t> дистанция</a:t>
            </a:r>
            <a:r>
              <a:rPr lang="ru-RU" dirty="0"/>
              <a:t>.</a:t>
            </a:r>
            <a:br>
              <a:rPr lang="ru-RU" dirty="0"/>
            </a:br>
            <a:endParaRPr lang="bg-B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25CB7-E0B9-4D9A-8440-DD72C6394C83}"/>
              </a:ext>
            </a:extLst>
          </p:cNvPr>
          <p:cNvSpPr txBox="1"/>
          <p:nvPr/>
        </p:nvSpPr>
        <p:spPr>
          <a:xfrm>
            <a:off x="2424629" y="275500"/>
            <a:ext cx="592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latin typeface="+mj-lt"/>
                <a:ea typeface="+mj-ea"/>
                <a:cs typeface="+mj-cs"/>
              </a:rPr>
              <a:t>Конфликти на пътя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pic>
        <p:nvPicPr>
          <p:cNvPr id="5122" name="Picture 2" descr="Неправилно на пътя: Най-често нарушения у нас се правят при изпреварване -  bTV Новините">
            <a:extLst>
              <a:ext uri="{FF2B5EF4-FFF2-40B4-BE49-F238E27FC236}">
                <a16:creationId xmlns:a16="http://schemas.microsoft.com/office/drawing/2014/main" id="{CD85370D-E6D2-FD5A-FE84-094CB3383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61" y="2392154"/>
            <a:ext cx="4790067" cy="30261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98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93991-A557-73CB-2BBD-6DEB7F8A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247E-4C16-391A-DC2E-E003E9394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71" y="1371311"/>
            <a:ext cx="7819653" cy="5486977"/>
          </a:xfrm>
        </p:spPr>
        <p:txBody>
          <a:bodyPr>
            <a:noAutofit/>
          </a:bodyPr>
          <a:lstStyle/>
          <a:p>
            <a:r>
              <a:rPr lang="ru-RU" b="1" dirty="0"/>
              <a:t>Конфликт</a:t>
            </a:r>
          </a:p>
          <a:p>
            <a:pPr marL="0" indent="0">
              <a:buNone/>
            </a:pPr>
            <a:r>
              <a:rPr lang="ru-RU" dirty="0" err="1"/>
              <a:t>Възниква</a:t>
            </a:r>
            <a:r>
              <a:rPr lang="ru-RU" dirty="0"/>
              <a:t>,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участниците</a:t>
            </a:r>
            <a:r>
              <a:rPr lang="ru-RU" dirty="0"/>
              <a:t> в </a:t>
            </a:r>
            <a:r>
              <a:rPr lang="ru-RU" dirty="0" err="1"/>
              <a:t>движението</a:t>
            </a:r>
            <a:r>
              <a:rPr lang="ru-RU" dirty="0"/>
              <a:t> </a:t>
            </a:r>
            <a:r>
              <a:rPr lang="ru-RU" dirty="0" err="1"/>
              <a:t>имат</a:t>
            </a:r>
            <a:r>
              <a:rPr lang="ru-RU" dirty="0"/>
              <a:t> </a:t>
            </a:r>
            <a:r>
              <a:rPr lang="ru-RU" b="1" dirty="0" err="1"/>
              <a:t>различни</a:t>
            </a:r>
            <a:r>
              <a:rPr lang="ru-RU" b="1" dirty="0"/>
              <a:t> действия или намерения</a:t>
            </a:r>
            <a:r>
              <a:rPr lang="ru-RU" dirty="0"/>
              <a:t>,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могат</a:t>
            </a:r>
            <a:r>
              <a:rPr lang="ru-RU" dirty="0"/>
              <a:t> да се </a:t>
            </a:r>
            <a:r>
              <a:rPr lang="ru-RU" dirty="0" err="1"/>
              <a:t>сблъскат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Причини: невнимание, </a:t>
            </a:r>
            <a:r>
              <a:rPr lang="ru-RU" dirty="0" err="1"/>
              <a:t>неразбиране</a:t>
            </a:r>
            <a:r>
              <a:rPr lang="ru-RU" dirty="0"/>
              <a:t> на </a:t>
            </a:r>
            <a:r>
              <a:rPr lang="ru-RU" dirty="0" err="1"/>
              <a:t>ситуацията</a:t>
            </a:r>
            <a:r>
              <a:rPr lang="ru-RU" dirty="0"/>
              <a:t>, </a:t>
            </a:r>
            <a:r>
              <a:rPr lang="ru-RU" dirty="0" err="1"/>
              <a:t>неспазване</a:t>
            </a:r>
            <a:r>
              <a:rPr lang="ru-RU" dirty="0"/>
              <a:t> на правила.</a:t>
            </a:r>
          </a:p>
          <a:p>
            <a:r>
              <a:rPr lang="ru-RU" b="1" dirty="0"/>
              <a:t>Инцидент</a:t>
            </a:r>
          </a:p>
          <a:p>
            <a:pPr marL="0" indent="0">
              <a:buNone/>
            </a:pPr>
            <a:r>
              <a:rPr lang="ru-RU" dirty="0" err="1"/>
              <a:t>Това</a:t>
            </a:r>
            <a:r>
              <a:rPr lang="ru-RU" dirty="0"/>
              <a:t> е </a:t>
            </a:r>
            <a:r>
              <a:rPr lang="ru-RU" b="1" dirty="0"/>
              <a:t>ситуация с риск или </a:t>
            </a:r>
            <a:r>
              <a:rPr lang="ru-RU" b="1" dirty="0" err="1"/>
              <a:t>леко</a:t>
            </a:r>
            <a:r>
              <a:rPr lang="ru-RU" b="1" dirty="0"/>
              <a:t> нарушение</a:t>
            </a:r>
            <a:r>
              <a:rPr lang="ru-RU" dirty="0"/>
              <a:t>, при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се </a:t>
            </a:r>
            <a:r>
              <a:rPr lang="ru-RU" dirty="0" err="1"/>
              <a:t>стигне</a:t>
            </a:r>
            <a:r>
              <a:rPr lang="ru-RU" dirty="0"/>
              <a:t> до </a:t>
            </a:r>
            <a:r>
              <a:rPr lang="ru-RU" dirty="0" err="1"/>
              <a:t>опасност</a:t>
            </a:r>
            <a:r>
              <a:rPr lang="ru-RU" dirty="0"/>
              <a:t>, но без </a:t>
            </a:r>
            <a:r>
              <a:rPr lang="ru-RU" dirty="0" err="1"/>
              <a:t>тежки</a:t>
            </a:r>
            <a:r>
              <a:rPr lang="ru-RU" dirty="0"/>
              <a:t> последствия.</a:t>
            </a:r>
            <a:br>
              <a:rPr lang="ru-RU" dirty="0"/>
            </a:br>
            <a:r>
              <a:rPr lang="ru-RU" dirty="0"/>
              <a:t>Причини: грешка на </a:t>
            </a:r>
            <a:r>
              <a:rPr lang="ru-RU" dirty="0" err="1"/>
              <a:t>водача</a:t>
            </a:r>
            <a:r>
              <a:rPr lang="ru-RU" dirty="0"/>
              <a:t>, </a:t>
            </a:r>
            <a:r>
              <a:rPr lang="ru-RU" dirty="0" err="1"/>
              <a:t>неправилна</a:t>
            </a:r>
            <a:r>
              <a:rPr lang="ru-RU" dirty="0"/>
              <a:t> </a:t>
            </a:r>
            <a:r>
              <a:rPr lang="ru-RU" dirty="0" err="1"/>
              <a:t>преценка</a:t>
            </a:r>
            <a:r>
              <a:rPr lang="ru-RU" dirty="0"/>
              <a:t>, </a:t>
            </a:r>
            <a:r>
              <a:rPr lang="ru-RU" dirty="0" err="1"/>
              <a:t>лоши</a:t>
            </a:r>
            <a:r>
              <a:rPr lang="ru-RU" dirty="0"/>
              <a:t> условия.</a:t>
            </a:r>
          </a:p>
          <a:p>
            <a:r>
              <a:rPr lang="ru-RU" b="1" dirty="0"/>
              <a:t>Катастрофа</a:t>
            </a:r>
          </a:p>
          <a:p>
            <a:pPr marL="0" indent="0">
              <a:buNone/>
            </a:pPr>
            <a:r>
              <a:rPr lang="ru-RU" dirty="0" err="1"/>
              <a:t>Това</a:t>
            </a:r>
            <a:r>
              <a:rPr lang="ru-RU" dirty="0"/>
              <a:t> е </a:t>
            </a:r>
            <a:r>
              <a:rPr lang="ru-RU" b="1" dirty="0" err="1"/>
              <a:t>сблъсък</a:t>
            </a:r>
            <a:r>
              <a:rPr lang="ru-RU" b="1" dirty="0"/>
              <a:t> с </a:t>
            </a:r>
            <a:r>
              <a:rPr lang="ru-RU" b="1" dirty="0" err="1"/>
              <a:t>материални</a:t>
            </a:r>
            <a:r>
              <a:rPr lang="ru-RU" b="1" dirty="0"/>
              <a:t> </a:t>
            </a:r>
            <a:r>
              <a:rPr lang="ru-RU" b="1" dirty="0" err="1"/>
              <a:t>щети</a:t>
            </a:r>
            <a:r>
              <a:rPr lang="ru-RU" b="1" dirty="0"/>
              <a:t> или пострадали хора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Причини: </a:t>
            </a:r>
            <a:r>
              <a:rPr lang="ru-RU" dirty="0" err="1"/>
              <a:t>висока</a:t>
            </a:r>
            <a:r>
              <a:rPr lang="ru-RU" dirty="0"/>
              <a:t> </a:t>
            </a:r>
            <a:r>
              <a:rPr lang="ru-RU" dirty="0" err="1"/>
              <a:t>скорост</a:t>
            </a:r>
            <a:r>
              <a:rPr lang="ru-RU" dirty="0"/>
              <a:t>, </a:t>
            </a:r>
            <a:r>
              <a:rPr lang="ru-RU" dirty="0" err="1"/>
              <a:t>алкохол</a:t>
            </a:r>
            <a:r>
              <a:rPr lang="ru-RU" dirty="0"/>
              <a:t>, </a:t>
            </a:r>
            <a:r>
              <a:rPr lang="ru-RU" dirty="0" err="1"/>
              <a:t>неспазване</a:t>
            </a:r>
            <a:r>
              <a:rPr lang="ru-RU" dirty="0"/>
              <a:t> на </a:t>
            </a:r>
            <a:r>
              <a:rPr lang="ru-RU" dirty="0" err="1"/>
              <a:t>предимство</a:t>
            </a:r>
            <a:r>
              <a:rPr lang="ru-RU" dirty="0"/>
              <a:t>, </a:t>
            </a:r>
            <a:r>
              <a:rPr lang="ru-RU" dirty="0" err="1"/>
              <a:t>разсейване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bg-B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25CB7-E0B9-4D9A-8440-DD72C6394C83}"/>
              </a:ext>
            </a:extLst>
          </p:cNvPr>
          <p:cNvSpPr txBox="1"/>
          <p:nvPr/>
        </p:nvSpPr>
        <p:spPr>
          <a:xfrm>
            <a:off x="2424629" y="275500"/>
            <a:ext cx="592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latin typeface="+mj-lt"/>
                <a:ea typeface="+mj-ea"/>
                <a:cs typeface="+mj-cs"/>
              </a:rPr>
              <a:t>Произшествия на пътя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pic>
        <p:nvPicPr>
          <p:cNvPr id="4103" name="Picture 7">
            <a:extLst>
              <a:ext uri="{FF2B5EF4-FFF2-40B4-BE49-F238E27FC236}">
                <a16:creationId xmlns:a16="http://schemas.microsoft.com/office/drawing/2014/main" id="{70E8C5EE-0C25-37BC-A4B3-03249DF8FA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92"/>
          <a:stretch/>
        </p:blipFill>
        <p:spPr bwMode="auto">
          <a:xfrm>
            <a:off x="8429624" y="2314575"/>
            <a:ext cx="3561907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202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84AA6-8D5E-D210-20F9-819354E4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1D48A-AF87-559E-6B69-94F2A30A3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744928"/>
            <a:ext cx="7349750" cy="4216823"/>
          </a:xfrm>
        </p:spPr>
        <p:txBody>
          <a:bodyPr>
            <a:noAutofit/>
          </a:bodyPr>
          <a:lstStyle/>
          <a:p>
            <a:r>
              <a:rPr lang="ru-RU" sz="2000" b="1" dirty="0" err="1"/>
              <a:t>Възприемане</a:t>
            </a:r>
            <a:r>
              <a:rPr lang="ru-RU" sz="2000" b="1" dirty="0"/>
              <a:t> на </a:t>
            </a:r>
            <a:r>
              <a:rPr lang="ru-RU" sz="2000" b="1" dirty="0" err="1"/>
              <a:t>пътната</a:t>
            </a:r>
            <a:r>
              <a:rPr lang="ru-RU" sz="2000" b="1" dirty="0"/>
              <a:t> среда</a:t>
            </a:r>
          </a:p>
          <a:p>
            <a:pPr marL="0" indent="0">
              <a:buNone/>
            </a:pPr>
            <a:r>
              <a:rPr lang="ru-RU" sz="2000" dirty="0" err="1"/>
              <a:t>Водачът</a:t>
            </a:r>
            <a:r>
              <a:rPr lang="ru-RU" sz="2000" dirty="0"/>
              <a:t> </a:t>
            </a:r>
            <a:r>
              <a:rPr lang="ru-RU" sz="2000" dirty="0" err="1"/>
              <a:t>трябва</a:t>
            </a:r>
            <a:r>
              <a:rPr lang="ru-RU" sz="2000" dirty="0"/>
              <a:t> да </a:t>
            </a:r>
            <a:r>
              <a:rPr lang="ru-RU" sz="2000" dirty="0" err="1"/>
              <a:t>наблюдава</a:t>
            </a:r>
            <a:r>
              <a:rPr lang="ru-RU" sz="2000" dirty="0"/>
              <a:t> и </a:t>
            </a:r>
            <a:r>
              <a:rPr lang="ru-RU" sz="2000" dirty="0" err="1"/>
              <a:t>осъзнава</a:t>
            </a:r>
            <a:r>
              <a:rPr lang="ru-RU" sz="2000" dirty="0"/>
              <a:t> </a:t>
            </a:r>
            <a:r>
              <a:rPr lang="ru-RU" sz="2000" dirty="0" err="1"/>
              <a:t>всичко</a:t>
            </a:r>
            <a:r>
              <a:rPr lang="ru-RU" sz="2000" dirty="0"/>
              <a:t> около себе си – </a:t>
            </a:r>
            <a:r>
              <a:rPr lang="ru-RU" sz="2000" dirty="0" err="1"/>
              <a:t>пътя</a:t>
            </a:r>
            <a:r>
              <a:rPr lang="ru-RU" sz="2000" dirty="0"/>
              <a:t>, </a:t>
            </a:r>
            <a:r>
              <a:rPr lang="ru-RU" sz="2000" dirty="0" err="1"/>
              <a:t>знаците</a:t>
            </a:r>
            <a:r>
              <a:rPr lang="ru-RU" sz="2000" dirty="0"/>
              <a:t>, </a:t>
            </a:r>
            <a:r>
              <a:rPr lang="ru-RU" sz="2000" dirty="0" err="1"/>
              <a:t>другите</a:t>
            </a:r>
            <a:r>
              <a:rPr lang="ru-RU" sz="2000" dirty="0"/>
              <a:t> </a:t>
            </a:r>
            <a:r>
              <a:rPr lang="ru-RU" sz="2000" dirty="0" err="1"/>
              <a:t>участници</a:t>
            </a:r>
            <a:r>
              <a:rPr lang="ru-RU" sz="2000" dirty="0"/>
              <a:t> и </a:t>
            </a:r>
            <a:r>
              <a:rPr lang="ru-RU" sz="2000" dirty="0" err="1"/>
              <a:t>условията</a:t>
            </a:r>
            <a:r>
              <a:rPr lang="ru-RU" sz="2000" dirty="0"/>
              <a:t>. </a:t>
            </a:r>
            <a:r>
              <a:rPr lang="ru-RU" sz="2000" dirty="0" err="1"/>
              <a:t>Това</a:t>
            </a:r>
            <a:r>
              <a:rPr lang="ru-RU" sz="2000" dirty="0"/>
              <a:t> е </a:t>
            </a:r>
            <a:r>
              <a:rPr lang="ru-RU" sz="2000" dirty="0" err="1"/>
              <a:t>основата</a:t>
            </a:r>
            <a:r>
              <a:rPr lang="ru-RU" sz="2000" dirty="0"/>
              <a:t> за безопасно движение.</a:t>
            </a:r>
          </a:p>
          <a:p>
            <a:r>
              <a:rPr lang="ru-RU" b="1" dirty="0"/>
              <a:t>Анализ на </a:t>
            </a:r>
            <a:r>
              <a:rPr lang="ru-RU" b="1" dirty="0" err="1"/>
              <a:t>пътна</a:t>
            </a:r>
            <a:r>
              <a:rPr lang="ru-RU" b="1" dirty="0"/>
              <a:t> ситуация</a:t>
            </a:r>
          </a:p>
          <a:p>
            <a:pPr marL="0" indent="0">
              <a:buNone/>
            </a:pPr>
            <a:r>
              <a:rPr lang="ru-RU" dirty="0" err="1"/>
              <a:t>Водачът</a:t>
            </a:r>
            <a:r>
              <a:rPr lang="ru-RU" dirty="0"/>
              <a:t> </a:t>
            </a:r>
            <a:r>
              <a:rPr lang="ru-RU" dirty="0" err="1"/>
              <a:t>преценява</a:t>
            </a:r>
            <a:r>
              <a:rPr lang="ru-RU" dirty="0"/>
              <a:t> </a:t>
            </a:r>
            <a:r>
              <a:rPr lang="ru-RU" dirty="0" err="1"/>
              <a:t>какво</a:t>
            </a:r>
            <a:r>
              <a:rPr lang="ru-RU" dirty="0"/>
              <a:t> се </a:t>
            </a:r>
            <a:r>
              <a:rPr lang="ru-RU" dirty="0" err="1"/>
              <a:t>случва</a:t>
            </a:r>
            <a:r>
              <a:rPr lang="ru-RU" dirty="0"/>
              <a:t> на </a:t>
            </a:r>
            <a:r>
              <a:rPr lang="ru-RU" dirty="0" err="1"/>
              <a:t>пътя</a:t>
            </a:r>
            <a:r>
              <a:rPr lang="ru-RU" dirty="0"/>
              <a:t> и кои </a:t>
            </a:r>
            <a:r>
              <a:rPr lang="ru-RU" dirty="0" err="1"/>
              <a:t>фактори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важни – </a:t>
            </a:r>
            <a:r>
              <a:rPr lang="ru-RU" dirty="0" err="1"/>
              <a:t>скорост</a:t>
            </a:r>
            <a:r>
              <a:rPr lang="ru-RU" dirty="0"/>
              <a:t>, </a:t>
            </a:r>
            <a:r>
              <a:rPr lang="ru-RU" dirty="0" err="1"/>
              <a:t>разстояние</a:t>
            </a:r>
            <a:r>
              <a:rPr lang="ru-RU" dirty="0"/>
              <a:t>, </a:t>
            </a:r>
            <a:r>
              <a:rPr lang="ru-RU" dirty="0" err="1"/>
              <a:t>предимство</a:t>
            </a:r>
            <a:r>
              <a:rPr lang="ru-RU" dirty="0"/>
              <a:t> и опасности. </a:t>
            </a:r>
            <a:r>
              <a:rPr lang="ru-RU" dirty="0" err="1"/>
              <a:t>Така</a:t>
            </a:r>
            <a:r>
              <a:rPr lang="ru-RU" dirty="0"/>
              <a:t> той </a:t>
            </a:r>
            <a:r>
              <a:rPr lang="ru-RU" dirty="0" err="1"/>
              <a:t>избира</a:t>
            </a:r>
            <a:r>
              <a:rPr lang="ru-RU" dirty="0"/>
              <a:t> </a:t>
            </a:r>
            <a:r>
              <a:rPr lang="ru-RU" dirty="0" err="1"/>
              <a:t>правилно</a:t>
            </a:r>
            <a:r>
              <a:rPr lang="ru-RU" dirty="0"/>
              <a:t> действие.</a:t>
            </a:r>
          </a:p>
          <a:p>
            <a:r>
              <a:rPr lang="ru-RU" b="1" dirty="0" err="1"/>
              <a:t>Прогнозиране</a:t>
            </a:r>
            <a:r>
              <a:rPr lang="ru-RU" b="1" dirty="0"/>
              <a:t> на </a:t>
            </a:r>
            <a:r>
              <a:rPr lang="ru-RU" b="1" dirty="0" err="1"/>
              <a:t>пътна</a:t>
            </a:r>
            <a:r>
              <a:rPr lang="ru-RU" b="1" dirty="0"/>
              <a:t> ситуация</a:t>
            </a:r>
          </a:p>
          <a:p>
            <a:pPr marL="0" indent="0">
              <a:buNone/>
            </a:pPr>
            <a:r>
              <a:rPr lang="ru-RU" dirty="0" err="1"/>
              <a:t>Водачът</a:t>
            </a:r>
            <a:r>
              <a:rPr lang="ru-RU" dirty="0"/>
              <a:t> </a:t>
            </a:r>
            <a:r>
              <a:rPr lang="ru-RU" dirty="0" err="1"/>
              <a:t>предвижда</a:t>
            </a:r>
            <a:r>
              <a:rPr lang="ru-RU" dirty="0"/>
              <a:t> </a:t>
            </a:r>
            <a:r>
              <a:rPr lang="ru-RU" dirty="0" err="1"/>
              <a:t>какво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се случи след </a:t>
            </a:r>
            <a:r>
              <a:rPr lang="ru-RU" dirty="0" err="1"/>
              <a:t>няколко</a:t>
            </a:r>
            <a:r>
              <a:rPr lang="ru-RU" dirty="0"/>
              <a:t> </a:t>
            </a:r>
            <a:r>
              <a:rPr lang="ru-RU" dirty="0" err="1"/>
              <a:t>секунди</a:t>
            </a:r>
            <a:r>
              <a:rPr lang="ru-RU" dirty="0"/>
              <a:t> – например дали </a:t>
            </a:r>
            <a:r>
              <a:rPr lang="ru-RU" dirty="0" err="1"/>
              <a:t>автомобил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завие</a:t>
            </a:r>
            <a:r>
              <a:rPr lang="ru-RU" dirty="0"/>
              <a:t> или </a:t>
            </a:r>
            <a:r>
              <a:rPr lang="ru-RU" dirty="0" err="1"/>
              <a:t>пешеходец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пресече</a:t>
            </a:r>
            <a:r>
              <a:rPr lang="ru-RU" dirty="0"/>
              <a:t>. </a:t>
            </a:r>
            <a:r>
              <a:rPr lang="ru-RU" dirty="0" err="1"/>
              <a:t>Това</a:t>
            </a:r>
            <a:r>
              <a:rPr lang="ru-RU" dirty="0"/>
              <a:t> </a:t>
            </a:r>
            <a:r>
              <a:rPr lang="ru-RU" dirty="0" err="1"/>
              <a:t>помага</a:t>
            </a:r>
            <a:r>
              <a:rPr lang="ru-RU" dirty="0"/>
              <a:t> да се </a:t>
            </a:r>
            <a:r>
              <a:rPr lang="ru-RU" dirty="0" err="1"/>
              <a:t>избегнат</a:t>
            </a:r>
            <a:r>
              <a:rPr lang="ru-RU" dirty="0"/>
              <a:t> </a:t>
            </a:r>
            <a:r>
              <a:rPr lang="ru-RU" dirty="0" err="1"/>
              <a:t>инциденти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3E08A-86D6-ACBA-54A6-AD5914D78940}"/>
              </a:ext>
            </a:extLst>
          </p:cNvPr>
          <p:cNvSpPr txBox="1"/>
          <p:nvPr/>
        </p:nvSpPr>
        <p:spPr>
          <a:xfrm>
            <a:off x="385012" y="227179"/>
            <a:ext cx="9549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err="1">
                <a:latin typeface="+mj-lt"/>
                <a:ea typeface="+mj-ea"/>
                <a:cs typeface="+mj-cs"/>
              </a:rPr>
              <a:t>Прогнозиране</a:t>
            </a:r>
            <a:r>
              <a:rPr lang="ru-RU" sz="3600" dirty="0">
                <a:latin typeface="+mj-lt"/>
                <a:ea typeface="+mj-ea"/>
                <a:cs typeface="+mj-cs"/>
              </a:rPr>
              <a:t> на </a:t>
            </a:r>
            <a:r>
              <a:rPr lang="ru-RU" sz="3600" dirty="0" err="1">
                <a:latin typeface="+mj-lt"/>
                <a:ea typeface="+mj-ea"/>
                <a:cs typeface="+mj-cs"/>
              </a:rPr>
              <a:t>пътнотранспортната</a:t>
            </a:r>
            <a:r>
              <a:rPr lang="ru-RU" sz="3600" dirty="0">
                <a:latin typeface="+mj-lt"/>
                <a:ea typeface="+mj-ea"/>
                <a:cs typeface="+mj-cs"/>
              </a:rPr>
              <a:t> обстановка (</a:t>
            </a:r>
            <a:r>
              <a:rPr lang="ru-RU" sz="3600" dirty="0" err="1">
                <a:latin typeface="+mj-lt"/>
                <a:ea typeface="+mj-ea"/>
                <a:cs typeface="+mj-cs"/>
              </a:rPr>
              <a:t>Виждам</a:t>
            </a:r>
            <a:r>
              <a:rPr lang="ru-RU" sz="3600" dirty="0">
                <a:latin typeface="+mj-lt"/>
                <a:ea typeface="+mj-ea"/>
                <a:cs typeface="+mj-cs"/>
              </a:rPr>
              <a:t> – </a:t>
            </a:r>
            <a:r>
              <a:rPr lang="ru-RU" sz="3600" dirty="0" err="1">
                <a:latin typeface="+mj-lt"/>
                <a:ea typeface="+mj-ea"/>
                <a:cs typeface="+mj-cs"/>
              </a:rPr>
              <a:t>Предвиждам</a:t>
            </a:r>
            <a:r>
              <a:rPr lang="ru-RU" sz="3600" dirty="0">
                <a:latin typeface="+mj-lt"/>
                <a:ea typeface="+mj-ea"/>
                <a:cs typeface="+mj-cs"/>
              </a:rPr>
              <a:t>)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pic>
        <p:nvPicPr>
          <p:cNvPr id="1030" name="Picture 6" descr="Полицията дава практически съвети за опазване на децата в ...">
            <a:extLst>
              <a:ext uri="{FF2B5EF4-FFF2-40B4-BE49-F238E27FC236}">
                <a16:creationId xmlns:a16="http://schemas.microsoft.com/office/drawing/2014/main" id="{532DFE99-32CF-E494-1373-55A139FFA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387" y="2455641"/>
            <a:ext cx="3586914" cy="31278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44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93991-A557-73CB-2BBD-6DEB7F8A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247E-4C16-391A-DC2E-E003E9394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871" y="1485611"/>
            <a:ext cx="6162304" cy="548697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 err="1"/>
              <a:t>Безопасността</a:t>
            </a:r>
            <a:r>
              <a:rPr lang="ru-RU" sz="2400" dirty="0"/>
              <a:t> на </a:t>
            </a:r>
            <a:r>
              <a:rPr lang="ru-RU" sz="2400" dirty="0" err="1"/>
              <a:t>пътя</a:t>
            </a:r>
            <a:r>
              <a:rPr lang="ru-RU" sz="2400" dirty="0"/>
              <a:t> </a:t>
            </a:r>
            <a:r>
              <a:rPr lang="ru-RU" sz="2400" dirty="0" err="1"/>
              <a:t>зависи</a:t>
            </a:r>
            <a:r>
              <a:rPr lang="ru-RU" sz="2400" dirty="0"/>
              <a:t> от </a:t>
            </a:r>
            <a:r>
              <a:rPr lang="ru-RU" sz="2400" dirty="0" err="1"/>
              <a:t>всички</a:t>
            </a:r>
            <a:r>
              <a:rPr lang="ru-RU" sz="2400" dirty="0"/>
              <a:t> </a:t>
            </a:r>
            <a:r>
              <a:rPr lang="ru-RU" sz="2400" dirty="0" err="1"/>
              <a:t>участници</a:t>
            </a:r>
            <a:r>
              <a:rPr lang="ru-RU" sz="2400" dirty="0"/>
              <a:t> в </a:t>
            </a:r>
            <a:r>
              <a:rPr lang="ru-RU" sz="2400" dirty="0" err="1"/>
              <a:t>движението</a:t>
            </a:r>
            <a:r>
              <a:rPr lang="ru-RU" sz="2400" dirty="0"/>
              <a:t>. </a:t>
            </a:r>
            <a:r>
              <a:rPr lang="ru-RU" sz="2400" dirty="0" err="1"/>
              <a:t>Всеки</a:t>
            </a:r>
            <a:r>
              <a:rPr lang="ru-RU" sz="2400" dirty="0"/>
              <a:t> </a:t>
            </a:r>
            <a:r>
              <a:rPr lang="ru-RU" sz="2400" dirty="0" err="1"/>
              <a:t>водач</a:t>
            </a:r>
            <a:r>
              <a:rPr lang="ru-RU" sz="2400" dirty="0"/>
              <a:t> </a:t>
            </a:r>
            <a:r>
              <a:rPr lang="ru-RU" sz="2400" dirty="0" err="1"/>
              <a:t>трябва</a:t>
            </a:r>
            <a:r>
              <a:rPr lang="ru-RU" sz="2400" dirty="0"/>
              <a:t> да </a:t>
            </a:r>
            <a:r>
              <a:rPr lang="ru-RU" sz="2400" dirty="0" err="1"/>
              <a:t>възприема</a:t>
            </a:r>
            <a:r>
              <a:rPr lang="ru-RU" sz="2400" dirty="0"/>
              <a:t> </a:t>
            </a:r>
            <a:r>
              <a:rPr lang="ru-RU" sz="2400" dirty="0" err="1"/>
              <a:t>пълноценно</a:t>
            </a:r>
            <a:r>
              <a:rPr lang="ru-RU" sz="2400" dirty="0"/>
              <a:t> </a:t>
            </a:r>
            <a:r>
              <a:rPr lang="ru-RU" sz="2400" dirty="0" err="1"/>
              <a:t>пътната</a:t>
            </a:r>
            <a:r>
              <a:rPr lang="ru-RU" sz="2400" dirty="0"/>
              <a:t> среда и да </a:t>
            </a:r>
            <a:r>
              <a:rPr lang="ru-RU" sz="2400" dirty="0" err="1"/>
              <a:t>спазва</a:t>
            </a:r>
            <a:r>
              <a:rPr lang="ru-RU" sz="2400" dirty="0"/>
              <a:t> </a:t>
            </a:r>
            <a:r>
              <a:rPr lang="ru-RU" sz="2400" dirty="0" err="1"/>
              <a:t>правилата</a:t>
            </a:r>
            <a:r>
              <a:rPr lang="ru-RU" sz="2400" dirty="0"/>
              <a:t>. Важно е да се </a:t>
            </a:r>
            <a:r>
              <a:rPr lang="ru-RU" sz="2400" dirty="0" err="1"/>
              <a:t>анализират</a:t>
            </a:r>
            <a:r>
              <a:rPr lang="ru-RU" sz="2400" dirty="0"/>
              <a:t> </a:t>
            </a:r>
            <a:r>
              <a:rPr lang="ru-RU" sz="2400" dirty="0" err="1"/>
              <a:t>правилно</a:t>
            </a:r>
            <a:r>
              <a:rPr lang="ru-RU" sz="2400" dirty="0"/>
              <a:t> </a:t>
            </a:r>
            <a:r>
              <a:rPr lang="ru-RU" sz="2400" dirty="0" err="1"/>
              <a:t>пътните</a:t>
            </a:r>
            <a:r>
              <a:rPr lang="ru-RU" sz="2400" dirty="0"/>
              <a:t> ситуации и да се </a:t>
            </a:r>
            <a:r>
              <a:rPr lang="ru-RU" sz="2400" dirty="0" err="1"/>
              <a:t>вземат</a:t>
            </a:r>
            <a:r>
              <a:rPr lang="ru-RU" sz="2400" dirty="0"/>
              <a:t> </a:t>
            </a:r>
            <a:r>
              <a:rPr lang="ru-RU" sz="2400" dirty="0" err="1"/>
              <a:t>бързи</a:t>
            </a:r>
            <a:r>
              <a:rPr lang="ru-RU" sz="2400" dirty="0"/>
              <a:t> решения. </a:t>
            </a:r>
            <a:r>
              <a:rPr lang="ru-RU" sz="2400" dirty="0" err="1"/>
              <a:t>Предвиждането</a:t>
            </a:r>
            <a:r>
              <a:rPr lang="ru-RU" sz="2400" dirty="0"/>
              <a:t> на </a:t>
            </a:r>
            <a:r>
              <a:rPr lang="ru-RU" sz="2400" dirty="0" err="1"/>
              <a:t>възможните</a:t>
            </a:r>
            <a:r>
              <a:rPr lang="ru-RU" sz="2400" dirty="0"/>
              <a:t> </a:t>
            </a:r>
            <a:r>
              <a:rPr lang="ru-RU" sz="2400" dirty="0" err="1"/>
              <a:t>рискове</a:t>
            </a:r>
            <a:r>
              <a:rPr lang="ru-RU" sz="2400" dirty="0"/>
              <a:t> </a:t>
            </a:r>
            <a:r>
              <a:rPr lang="ru-RU" sz="2400" dirty="0" err="1"/>
              <a:t>помага</a:t>
            </a:r>
            <a:r>
              <a:rPr lang="ru-RU" sz="2400" dirty="0"/>
              <a:t> за </a:t>
            </a:r>
            <a:r>
              <a:rPr lang="ru-RU" sz="2400" dirty="0" err="1"/>
              <a:t>предотвратяване</a:t>
            </a:r>
            <a:r>
              <a:rPr lang="ru-RU" sz="2400" dirty="0"/>
              <a:t> на </a:t>
            </a:r>
            <a:r>
              <a:rPr lang="ru-RU" sz="2400" dirty="0" err="1"/>
              <a:t>инциденти</a:t>
            </a:r>
            <a:r>
              <a:rPr lang="ru-RU" sz="2400" dirty="0"/>
              <a:t>. </a:t>
            </a:r>
            <a:r>
              <a:rPr lang="ru-RU" sz="2400" dirty="0" err="1"/>
              <a:t>Отговорното</a:t>
            </a:r>
            <a:r>
              <a:rPr lang="ru-RU" sz="2400" dirty="0"/>
              <a:t> поведение на </a:t>
            </a:r>
            <a:r>
              <a:rPr lang="ru-RU" sz="2400" dirty="0" err="1"/>
              <a:t>всички</a:t>
            </a:r>
            <a:r>
              <a:rPr lang="ru-RU" sz="2400" dirty="0"/>
              <a:t> </a:t>
            </a:r>
            <a:r>
              <a:rPr lang="ru-RU" sz="2400" dirty="0" err="1"/>
              <a:t>водачи</a:t>
            </a:r>
            <a:r>
              <a:rPr lang="ru-RU" sz="2400" dirty="0"/>
              <a:t> </a:t>
            </a:r>
            <a:r>
              <a:rPr lang="ru-RU" sz="2400" dirty="0" err="1"/>
              <a:t>осигурява</a:t>
            </a:r>
            <a:r>
              <a:rPr lang="ru-RU" sz="2400" dirty="0"/>
              <a:t> </a:t>
            </a:r>
            <a:r>
              <a:rPr lang="ru-RU" sz="2400" dirty="0" err="1"/>
              <a:t>по-безопасно</a:t>
            </a:r>
            <a:r>
              <a:rPr lang="ru-RU" sz="2400" dirty="0"/>
              <a:t> движение за </a:t>
            </a:r>
            <a:r>
              <a:rPr lang="ru-RU" sz="2400" dirty="0" err="1"/>
              <a:t>всички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endParaRPr lang="bg-B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25CB7-E0B9-4D9A-8440-DD72C6394C83}"/>
              </a:ext>
            </a:extLst>
          </p:cNvPr>
          <p:cNvSpPr txBox="1"/>
          <p:nvPr/>
        </p:nvSpPr>
        <p:spPr>
          <a:xfrm>
            <a:off x="2424629" y="275500"/>
            <a:ext cx="5925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latin typeface="+mj-lt"/>
                <a:ea typeface="+mj-ea"/>
                <a:cs typeface="+mj-cs"/>
              </a:rPr>
              <a:t>Заключение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pic>
        <p:nvPicPr>
          <p:cNvPr id="5122" name="Picture 2" descr="Днес е Националният ден за безопасност на движението по пътищата | Община  Русе">
            <a:extLst>
              <a:ext uri="{FF2B5EF4-FFF2-40B4-BE49-F238E27FC236}">
                <a16:creationId xmlns:a16="http://schemas.microsoft.com/office/drawing/2014/main" id="{0E7729F0-822A-6900-7CAE-4C08DAF9C4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9"/>
          <a:stretch/>
        </p:blipFill>
        <p:spPr bwMode="auto">
          <a:xfrm>
            <a:off x="7762876" y="1371311"/>
            <a:ext cx="4089400" cy="519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45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481</TotalTime>
  <Words>697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Century Gothic (Body)</vt:lpstr>
      <vt:lpstr>Georgia</vt:lpstr>
      <vt:lpstr>Wingdings 3</vt:lpstr>
      <vt:lpstr>Ion</vt:lpstr>
      <vt:lpstr>Безопасност на движението по пътищата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2026-05-02T07:39:01Z</dcterms:created>
  <dcterms:modified xsi:type="dcterms:W3CDTF">2026-05-02T17:28:46Z</dcterms:modified>
</cp:coreProperties>
</file>